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3" r:id="rId2"/>
    <p:sldId id="272" r:id="rId3"/>
    <p:sldId id="279" r:id="rId4"/>
    <p:sldId id="260" r:id="rId5"/>
    <p:sldId id="274" r:id="rId6"/>
    <p:sldId id="257" r:id="rId7"/>
    <p:sldId id="280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24/01/2026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C88C4-BC32-827B-921E-27791C13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4676-E30E-D8F7-D274-1A2185BE8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B7224-0D1A-90EA-7997-2D76623A2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50CD2-7543-5494-B275-36487C740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516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633D-E169-9A9B-A16A-E8D09D81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42AE0-74EF-362B-AD3E-E9D74326D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C2CA1-B291-EBFC-0F25-62BDD2DAF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C5F3-B716-13BD-411D-CBAA03520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7613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sábado, 24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Introducción al Deep </a:t>
            </a:r>
            <a:r>
              <a:rPr lang="es-ES" dirty="0" err="1"/>
              <a:t>Learning</a:t>
            </a:r>
            <a:r>
              <a:rPr lang="es-ES" dirty="0"/>
              <a:t>: Más allá de las tablas de datos.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Redes Neuronales aplicadas a la Visión Artificial y Operaciones.</a:t>
            </a:r>
          </a:p>
          <a:p>
            <a:pPr marL="457200" lvl="1" indent="0">
              <a:buNone/>
            </a:pPr>
            <a:endParaRPr lang="es-ES" sz="2800" b="1" dirty="0"/>
          </a:p>
          <a:p>
            <a:pPr marL="457200" lvl="1" indent="0">
              <a:buNone/>
            </a:pPr>
            <a:r>
              <a:rPr lang="es-ES" sz="2800" b="1" dirty="0"/>
              <a:t>Concepto clave:</a:t>
            </a:r>
            <a:r>
              <a:rPr lang="es-ES" sz="2800" dirty="0"/>
              <a:t> Si el ML clásico son "reglas", el Deep </a:t>
            </a:r>
            <a:r>
              <a:rPr lang="es-ES" sz="2800" dirty="0" err="1"/>
              <a:t>Learning</a:t>
            </a:r>
            <a:r>
              <a:rPr lang="es-ES" sz="2800" dirty="0"/>
              <a:t> son "capas de aprendizaje".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34C9-B153-3173-0393-A0232A2C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0D1F-130E-85C8-0D82-E4F7465E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446980"/>
            <a:ext cx="5617028" cy="794204"/>
          </a:xfrm>
        </p:spPr>
        <p:txBody>
          <a:bodyPr/>
          <a:lstStyle/>
          <a:p>
            <a:pPr latinLnBrk="1"/>
            <a:r>
              <a:rPr lang="es-ES" dirty="0"/>
              <a:t>¿Qué es una Red Neuronal?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BC284CD-5A0C-E5F8-E594-97B2987AE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097761B-91D9-E354-B04C-922B0EFE3B54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6096000" y="1241184"/>
            <a:ext cx="6096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un modelo inspirado en el cerebro humano. Se compone de "neuronas" organizadas en capas: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 de Entrada: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Recibe los datos (ej. los píxeles de una foto).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Capas Ocultas: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Donde ocurre la "magia" (extracción de patrones).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 de Salida: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decisión final (ej. "Este producto es una naranja defectuosa").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Analogía de Negocio: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como una jerarquía empresarial. El becario ve datos brutos, los analistas intermedios buscan patrones y el director toma la decisión final basada en los informes procesados.</a:t>
            </a:r>
          </a:p>
        </p:txBody>
      </p:sp>
      <p:pic>
        <p:nvPicPr>
          <p:cNvPr id="11" name="Marcador de posición de 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55F06431-BEC9-1F27-BD8E-47FA30A463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5" r="223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1570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19" y="328352"/>
            <a:ext cx="5662455" cy="794204"/>
          </a:xfrm>
        </p:spPr>
        <p:txBody>
          <a:bodyPr/>
          <a:lstStyle/>
          <a:p>
            <a:r>
              <a:rPr lang="es-ES" dirty="0"/>
              <a:t>¿Qué es el Deep </a:t>
            </a:r>
            <a:r>
              <a:rPr lang="es-ES" dirty="0" err="1"/>
              <a:t>Learning</a:t>
            </a:r>
            <a:r>
              <a:rPr lang="es-ES" dirty="0"/>
              <a:t> en la Empresa?</a:t>
            </a:r>
            <a:endParaRPr lang="es-ES" b="1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5856918-FA5F-370C-587B-3B7E3E415740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95459" y="1416137"/>
            <a:ext cx="585337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una rama de la IA mayormente basada en el uso de redes neuronales profundas, capaz de procesar datos aun si son "no estructurados" (fotos,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correos electrónicos).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valor del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Pre-entrenamiento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necesitamos ser Google u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usar IA. Usamos modelos que ya "saben" leer (OCR) o entender idiomas (NLP) y los aplicamos a nuestro negocio.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Analogía: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como contratar a un empleado que ya sabe leer y escribir; solo tenemos que enseñarle dónde están nuestros formularios.</a:t>
            </a:r>
          </a:p>
        </p:txBody>
      </p:sp>
      <p:pic>
        <p:nvPicPr>
          <p:cNvPr id="9" name="Marcador de posición de 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C7C0C5DD-8C50-4604-8791-F1C8E749027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0" r="2725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67" y="466726"/>
            <a:ext cx="5225142" cy="794204"/>
          </a:xfrm>
        </p:spPr>
        <p:txBody>
          <a:bodyPr/>
          <a:lstStyle/>
          <a:p>
            <a:r>
              <a:rPr lang="es-ES" dirty="0"/>
              <a:t>Caso de Uso 1 – Lectura de Texto con Visión Artificial (OCR)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874B68-8D83-7B40-1E66-F63F35B031B8}"/>
              </a:ext>
            </a:extLst>
          </p:cNvPr>
          <p:cNvSpPr txBox="1"/>
          <p:nvPr/>
        </p:nvSpPr>
        <p:spPr>
          <a:xfrm>
            <a:off x="6097676" y="1260930"/>
            <a:ext cx="6094324" cy="5153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Problema: 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registro manual de albaranes y facturas es lento y propenso a errores.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ES" sz="24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Solución: </a:t>
            </a:r>
            <a:r>
              <a:rPr lang="es-ES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EasyOCR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Localiza texto en una imagen y lo convierte en datos procesables.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ES" sz="24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Impacto en Negocio: </a:t>
            </a:r>
            <a:r>
              <a:rPr lang="es-E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Reducción del tiempo de recepción en almacén y digitalización instantánea de la cadena de suministro.</a:t>
            </a:r>
          </a:p>
        </p:txBody>
      </p:sp>
      <p:pic>
        <p:nvPicPr>
          <p:cNvPr id="9" name="Marcador de posición de imagen 8" descr="Tabla&#10;&#10;El contenido generado por IA puede ser incorrecto.">
            <a:extLst>
              <a:ext uri="{FF2B5EF4-FFF2-40B4-BE49-F238E27FC236}">
                <a16:creationId xmlns:a16="http://schemas.microsoft.com/office/drawing/2014/main" id="{6E76899D-98C2-8D38-8C2C-A023636B3C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5" b="165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algn="ctr" latinLnBrk="1"/>
            <a:r>
              <a:rPr lang="es-ES" dirty="0"/>
              <a:t>Caso de Uso 2 - Clasificación de Texto (NLP)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1" y="1600583"/>
            <a:ext cx="6095999" cy="314311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Problema: </a:t>
            </a:r>
            <a:r>
              <a:rPr lang="es-ES" dirty="0"/>
              <a:t>Cientos de correos de clientes llegando a la vez. ¿Cuál respondemos primero?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Solución: </a:t>
            </a:r>
            <a:r>
              <a:rPr lang="es-ES" dirty="0"/>
              <a:t>Clasificación de sentimiento y urgencia con Transformers.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Impacto en Negocio: </a:t>
            </a:r>
            <a:r>
              <a:rPr lang="es-ES" dirty="0"/>
              <a:t>Mejora del NPS (satisfacción del cliente) al priorizar emergencias logísticas sobre consultas generales automáticamente.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8" name="Marcador de posición de imagen 7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914A48E9-ACB4-AEB6-1299-869937B633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68" r="218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C55D-E13F-19C7-B0B1-0572933D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A586-F383-8C40-B260-1A4A0C3C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algn="ctr" latinLnBrk="1"/>
            <a:r>
              <a:rPr lang="es-ES" dirty="0"/>
              <a:t>ML clásico vs. Deep </a:t>
            </a:r>
            <a:r>
              <a:rPr lang="es-ES" dirty="0" err="1"/>
              <a:t>Learning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1AA4ED6-6974-538E-70F6-C5A0B8A6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476A4682-1287-378D-F706-7D35F3B5A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231356"/>
              </p:ext>
            </p:extLst>
          </p:nvPr>
        </p:nvGraphicFramePr>
        <p:xfrm>
          <a:off x="6096000" y="1634707"/>
          <a:ext cx="6096000" cy="456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429173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094103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38730737"/>
                    </a:ext>
                  </a:extLst>
                </a:gridCol>
              </a:tblGrid>
              <a:tr h="93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Situación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Modelo Clásico (Regresión/Árboles)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Deep </a:t>
                      </a:r>
                      <a:r>
                        <a:rPr lang="es-ES" sz="1800" b="1" kern="100" dirty="0" err="1">
                          <a:effectLst/>
                        </a:rPr>
                        <a:t>Learning</a:t>
                      </a:r>
                      <a:r>
                        <a:rPr lang="es-ES" sz="1800" b="1" kern="100" dirty="0">
                          <a:effectLst/>
                        </a:rPr>
                        <a:t> (Redes Neuronales)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extLst>
                  <a:ext uri="{0D108BD9-81ED-4DB2-BD59-A6C34878D82A}">
                    <a16:rowId xmlns:a16="http://schemas.microsoft.com/office/drawing/2014/main" val="295201919"/>
                  </a:ext>
                </a:extLst>
              </a:tr>
              <a:tr h="93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Datos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Tablas de Excel, Números, Categorías.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Imágenes, Vídeo, Texto libre, Audio.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extLst>
                  <a:ext uri="{0D108BD9-81ED-4DB2-BD59-A6C34878D82A}">
                    <a16:rowId xmlns:a16="http://schemas.microsoft.com/office/drawing/2014/main" val="2865863300"/>
                  </a:ext>
                </a:extLst>
              </a:tr>
              <a:tr h="11401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Volumen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Funciona bien con pocos datos.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Necesita muchos datos (o modelos </a:t>
                      </a:r>
                      <a:r>
                        <a:rPr lang="es-ES" sz="1800" kern="100" dirty="0" err="1">
                          <a:effectLst/>
                        </a:rPr>
                        <a:t>pre-entrenados</a:t>
                      </a:r>
                      <a:r>
                        <a:rPr lang="es-ES" sz="1800" kern="100" dirty="0">
                          <a:effectLst/>
                        </a:rPr>
                        <a:t>).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extLst>
                  <a:ext uri="{0D108BD9-81ED-4DB2-BD59-A6C34878D82A}">
                    <a16:rowId xmlns:a16="http://schemas.microsoft.com/office/drawing/2014/main" val="1140619093"/>
                  </a:ext>
                </a:extLst>
              </a:tr>
              <a:tr h="13495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b="1" kern="100" dirty="0">
                          <a:effectLst/>
                        </a:rPr>
                        <a:t>Uso en Empresa</a:t>
                      </a:r>
                      <a:endParaRPr lang="es-ES" sz="18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>
                          <a:effectLst/>
                        </a:rPr>
                        <a:t>Predicción de ventas, Churn, Scoring.</a:t>
                      </a:r>
                      <a:endParaRPr lang="es-E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800" kern="100" dirty="0">
                          <a:effectLst/>
                        </a:rPr>
                        <a:t>OCR, </a:t>
                      </a:r>
                      <a:r>
                        <a:rPr lang="es-ES" sz="1800" kern="100" dirty="0" err="1">
                          <a:effectLst/>
                        </a:rPr>
                        <a:t>Chatbots</a:t>
                      </a:r>
                      <a:r>
                        <a:rPr lang="es-ES" sz="1800" kern="100" dirty="0">
                          <a:effectLst/>
                        </a:rPr>
                        <a:t>, Clasificación de fotos, Reconocimiento facial.</a:t>
                      </a:r>
                      <a:endParaRPr lang="es-E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02" marR="59202" marT="0" marB="0" anchor="ctr"/>
                </a:tc>
                <a:extLst>
                  <a:ext uri="{0D108BD9-81ED-4DB2-BD59-A6C34878D82A}">
                    <a16:rowId xmlns:a16="http://schemas.microsoft.com/office/drawing/2014/main" val="18880524"/>
                  </a:ext>
                </a:extLst>
              </a:tr>
            </a:tbl>
          </a:graphicData>
        </a:graphic>
      </p:graphicFrame>
      <p:pic>
        <p:nvPicPr>
          <p:cNvPr id="13" name="Marcador de posición de 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0A053ECA-55E3-639E-5FA6-759DC1E9865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6" r="1356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3634634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491</Words>
  <Application>Microsoft Office PowerPoint</Application>
  <PresentationFormat>Panorámica</PresentationFormat>
  <Paragraphs>48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Gill Sans MT</vt:lpstr>
      <vt:lpstr>Neon Horizon</vt:lpstr>
      <vt:lpstr>🚀 De mirar el pasado a anticipar el futuro</vt:lpstr>
      <vt:lpstr>Introducción al Deep Learning: Más allá de las tablas de datos.</vt:lpstr>
      <vt:lpstr>¿Qué es una Red Neuronal?</vt:lpstr>
      <vt:lpstr>¿Qué es el Deep Learning en la Empresa?</vt:lpstr>
      <vt:lpstr>Caso de Uso 1 – Lectura de Texto con Visión Artificial (OCR)</vt:lpstr>
      <vt:lpstr>Caso de Uso 2 - Clasificación de Texto (NLP)   </vt:lpstr>
      <vt:lpstr>ML clásico vs. Deep Learning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21</cp:revision>
  <dcterms:created xsi:type="dcterms:W3CDTF">2025-09-12T17:31:23Z</dcterms:created>
  <dcterms:modified xsi:type="dcterms:W3CDTF">2026-01-24T22:40:32Z</dcterms:modified>
</cp:coreProperties>
</file>