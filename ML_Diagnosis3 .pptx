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2" r:id="rId3"/>
    <p:sldId id="260" r:id="rId4"/>
    <p:sldId id="257" r:id="rId5"/>
    <p:sldId id="258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jueves, 22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¿Por qué falla mi modelo? Diagnóstico y Confianza.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241184"/>
            <a:ext cx="5903934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Equilibrio entre simplicidad (Parsimonia) y complejidad.</a:t>
            </a:r>
          </a:p>
          <a:p>
            <a:pPr lvl="1"/>
            <a:endParaRPr lang="es-ES" sz="2800" dirty="0"/>
          </a:p>
          <a:p>
            <a:pPr lvl="1"/>
            <a:r>
              <a:rPr lang="es-ES" sz="2800" dirty="0"/>
              <a:t>No queremos saber solo qué pasará, sino </a:t>
            </a:r>
            <a:r>
              <a:rPr lang="es-ES" sz="2800" i="1" dirty="0"/>
              <a:t>por qué</a:t>
            </a:r>
            <a:r>
              <a:rPr lang="es-ES" sz="2800" dirty="0"/>
              <a:t> pasará.</a:t>
            </a:r>
          </a:p>
          <a:p>
            <a:pPr lvl="1"/>
            <a:endParaRPr lang="es-ES" sz="2800" dirty="0"/>
          </a:p>
          <a:p>
            <a:pPr marL="457200" lvl="1" indent="0">
              <a:buNone/>
            </a:pPr>
            <a:r>
              <a:rPr lang="es-ES" sz="2800" dirty="0"/>
              <a:t>Un modelo que acierta todo en el pasado puede ser un desastre para predecir el futuro.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14" y="328352"/>
            <a:ext cx="5285433" cy="794204"/>
          </a:xfrm>
        </p:spPr>
        <p:txBody>
          <a:bodyPr/>
          <a:lstStyle/>
          <a:p>
            <a:r>
              <a:rPr lang="es-ES" b="1" dirty="0"/>
              <a:t>Los tres escenarios del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770" y="1235948"/>
            <a:ext cx="5847604" cy="4613885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 err="1"/>
              <a:t>Underfitting</a:t>
            </a:r>
            <a:r>
              <a:rPr lang="es-ES" sz="2200" b="1" dirty="0"/>
              <a:t> (</a:t>
            </a:r>
            <a:r>
              <a:rPr lang="es-ES" sz="2200" b="1" dirty="0" err="1"/>
              <a:t>Subajuste</a:t>
            </a:r>
            <a:r>
              <a:rPr lang="es-ES" sz="2200" b="1" dirty="0"/>
              <a:t>): </a:t>
            </a:r>
            <a:r>
              <a:rPr lang="es-ES" sz="2200" dirty="0"/>
              <a:t>El estudiante no ha estudiado lo suficiente. No entiende los patrones ni en los apuntes ni en el examen. (Modelo demasiado simple).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 err="1"/>
              <a:t>Overfitting</a:t>
            </a:r>
            <a:r>
              <a:rPr lang="es-ES" sz="2200" b="1" dirty="0"/>
              <a:t> (Sobreajuste):</a:t>
            </a:r>
            <a:r>
              <a:rPr lang="es-ES" sz="2200" dirty="0"/>
              <a:t> El estudiante se ha memorizado los apuntes de memoria, incluyendo las manchas de café. En el examen real, como las preguntas cambian un poco, fracasa. (Modelo demasiado complejo).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/>
              <a:t>Modelo Robusto: </a:t>
            </a:r>
            <a:r>
              <a:rPr lang="es-ES" sz="2200" dirty="0"/>
              <a:t>El estudiante entiende los conceptos y sabe aplicarlos a situaciones nuevas.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Ley de la Parsimonia (Navaja de Ockham)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418841"/>
            <a:ext cx="6096000" cy="4591818"/>
          </a:xfrm>
        </p:spPr>
        <p:txBody>
          <a:bodyPr>
            <a:noAutofit/>
          </a:bodyPr>
          <a:lstStyle/>
          <a:p>
            <a:r>
              <a:rPr lang="es-ES" sz="2000" b="1" dirty="0"/>
              <a:t>Concepto</a:t>
            </a:r>
            <a:r>
              <a:rPr lang="es-ES" sz="2000" dirty="0"/>
              <a:t>: En ML aplicado a Business, "Menos es más".</a:t>
            </a:r>
          </a:p>
          <a:p>
            <a:endParaRPr lang="es-ES" sz="2000" dirty="0"/>
          </a:p>
          <a:p>
            <a:r>
              <a:rPr lang="es-ES" sz="2000" b="1" dirty="0"/>
              <a:t>Explicación</a:t>
            </a:r>
            <a:r>
              <a:rPr lang="es-ES" sz="2000" dirty="0"/>
              <a:t>: Es mejor un modelo con 3 variables que entendemos y podemos controlar, que uno con 50 variables que nadie sabe explicar.</a:t>
            </a:r>
          </a:p>
          <a:p>
            <a:endParaRPr lang="es-ES" sz="2000" dirty="0"/>
          </a:p>
          <a:p>
            <a:r>
              <a:rPr lang="es-ES" sz="2000" b="1" dirty="0"/>
              <a:t>Impacto</a:t>
            </a:r>
            <a:r>
              <a:rPr lang="es-ES" sz="2000" dirty="0"/>
              <a:t>: Facilita la comunicación con gerencia y reduce el riesgo de errores.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7" y="365126"/>
            <a:ext cx="4939973" cy="794204"/>
          </a:xfrm>
        </p:spPr>
        <p:txBody>
          <a:bodyPr/>
          <a:lstStyle/>
          <a:p>
            <a:pPr latinLnBrk="1"/>
            <a:r>
              <a:rPr lang="es-ES" dirty="0"/>
              <a:t>⚖️ LA NAVAJA DE OCKHAM APLICADA A NEGOCIOS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22651" y="1233155"/>
            <a:ext cx="5735538" cy="4594889"/>
          </a:xfrm>
        </p:spPr>
        <p:txBody>
          <a:bodyPr>
            <a:noAutofit/>
          </a:bodyPr>
          <a:lstStyle/>
          <a:p>
            <a:r>
              <a:rPr lang="es-ES" sz="1800" b="1" dirty="0"/>
              <a:t>CASO A: Modelo complejo (20 variables)</a:t>
            </a:r>
          </a:p>
          <a:p>
            <a:r>
              <a:rPr lang="es-ES" sz="1800" b="1" dirty="0"/>
              <a:t>• </a:t>
            </a:r>
            <a:r>
              <a:rPr lang="es-ES" sz="1800" dirty="0"/>
              <a:t>R² = 0.95</a:t>
            </a:r>
          </a:p>
          <a:p>
            <a:r>
              <a:rPr lang="es-ES" sz="1800" dirty="0"/>
              <a:t>• Problema: Nadie lo entiende</a:t>
            </a:r>
          </a:p>
          <a:p>
            <a:r>
              <a:rPr lang="es-ES" sz="1800" dirty="0"/>
              <a:t>• Riesgo: Decisiones basadas en "magia"</a:t>
            </a:r>
          </a:p>
          <a:p>
            <a:endParaRPr lang="es-ES" sz="1800" b="1" dirty="0"/>
          </a:p>
          <a:p>
            <a:r>
              <a:rPr lang="es-ES" sz="1800" b="1" dirty="0"/>
              <a:t>CASO B: Modelo simple (3 variables)</a:t>
            </a:r>
          </a:p>
          <a:p>
            <a:r>
              <a:rPr lang="es-ES" sz="1800" b="1" dirty="0"/>
              <a:t>• </a:t>
            </a:r>
            <a:r>
              <a:rPr lang="es-ES" sz="1800" dirty="0"/>
              <a:t>R² = 0.85  </a:t>
            </a:r>
          </a:p>
          <a:p>
            <a:r>
              <a:rPr lang="es-ES" sz="1800" dirty="0"/>
              <a:t>• Ventaja: Todos lo entienden</a:t>
            </a:r>
          </a:p>
          <a:p>
            <a:r>
              <a:rPr lang="es-ES" sz="1800" dirty="0"/>
              <a:t>• Beneficio: Decisiones accionables</a:t>
            </a:r>
          </a:p>
          <a:p>
            <a:endParaRPr lang="es-ES" sz="2400" b="1" dirty="0"/>
          </a:p>
          <a:p>
            <a:r>
              <a:rPr lang="es-ES" sz="1800" b="1" dirty="0"/>
              <a:t>📊 TRADE-OFF EMPRESARIAL:</a:t>
            </a:r>
          </a:p>
          <a:p>
            <a:r>
              <a:rPr lang="es-ES" sz="1800" dirty="0"/>
              <a:t>¿Vale la pena 10% más de precisión por 500% más de complejidad?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Advertencia temprana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r>
              <a:rPr lang="es-ES" sz="2000" b="1" dirty="0"/>
              <a:t>Riesgos asociados:</a:t>
            </a:r>
          </a:p>
          <a:p>
            <a:endParaRPr lang="es-ES" sz="2000" dirty="0"/>
          </a:p>
          <a:p>
            <a:pPr latinLnBrk="1"/>
            <a:r>
              <a:rPr lang="es-ES" dirty="0"/>
              <a:t>❌ </a:t>
            </a:r>
            <a:r>
              <a:rPr lang="es-ES" b="1" dirty="0"/>
              <a:t>ERROR 1: Correlación ≠ Causalidad</a:t>
            </a:r>
          </a:p>
          <a:p>
            <a:pPr latinLnBrk="1"/>
            <a:r>
              <a:rPr lang="es-ES" dirty="0"/>
              <a:t>"Las ventas de helado aumentan con los ataques de tiburón"</a:t>
            </a:r>
          </a:p>
          <a:p>
            <a:pPr latinLnBrk="1"/>
            <a:r>
              <a:rPr lang="es-ES" dirty="0"/>
              <a:t>→ No invertir en más tiburones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❌ </a:t>
            </a:r>
            <a:r>
              <a:rPr lang="es-ES" b="1" dirty="0"/>
              <a:t>ERROR 2: Ignorar variables ocultas</a:t>
            </a:r>
          </a:p>
          <a:p>
            <a:pPr latinLnBrk="1"/>
            <a:r>
              <a:rPr lang="es-ES" dirty="0"/>
              <a:t>"Contratar más vendedores no aumentó ventas"</a:t>
            </a:r>
          </a:p>
          <a:p>
            <a:pPr latinLnBrk="1"/>
            <a:r>
              <a:rPr lang="es-ES" dirty="0"/>
              <a:t>→ Olvidamos que era temporada baja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❌ </a:t>
            </a:r>
            <a:r>
              <a:rPr lang="es-ES" b="1" dirty="0"/>
              <a:t>ERROR 3: Extrapolar fuera del rango</a:t>
            </a:r>
          </a:p>
          <a:p>
            <a:pPr latinLnBrk="1"/>
            <a:r>
              <a:rPr lang="es-ES" dirty="0"/>
              <a:t>"Si $1K genera $5K, $1M generará $5M"</a:t>
            </a:r>
          </a:p>
          <a:p>
            <a:pPr latinLnBrk="1"/>
            <a:r>
              <a:rPr lang="es-ES" dirty="0"/>
              <a:t>→ La realidad no es lineal infinita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383</Words>
  <Application>Microsoft Office PowerPoint</Application>
  <PresentationFormat>Panorámica</PresentationFormat>
  <Paragraphs>46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Neon Horizon</vt:lpstr>
      <vt:lpstr>🚀 De mirar el pasado a anticipar el futuro</vt:lpstr>
      <vt:lpstr>¿Por qué falla mi modelo? Diagnóstico y Confianza.</vt:lpstr>
      <vt:lpstr>Los tres escenarios del ML</vt:lpstr>
      <vt:lpstr>La Ley de la Parsimonia (Navaja de Ockham)</vt:lpstr>
      <vt:lpstr>⚖️ LA NAVAJA DE OCKHAM APLICADA A NEGOCIOS</vt:lpstr>
      <vt:lpstr>Advertencia temprana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9</cp:revision>
  <dcterms:created xsi:type="dcterms:W3CDTF">2025-09-12T17:31:23Z</dcterms:created>
  <dcterms:modified xsi:type="dcterms:W3CDTF">2026-01-22T17:33:10Z</dcterms:modified>
</cp:coreProperties>
</file>