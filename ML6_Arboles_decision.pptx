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72" r:id="rId3"/>
    <p:sldId id="260" r:id="rId4"/>
    <p:sldId id="274" r:id="rId5"/>
    <p:sldId id="257" r:id="rId6"/>
    <p:sldId id="264" r:id="rId7"/>
    <p:sldId id="277" r:id="rId8"/>
    <p:sldId id="278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4E62-62E7-8FE2-D168-85D8CF31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E042F-9442-5377-83DF-67572C84D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F9798-E49B-7FC4-B373-FF9099260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5791C-2407-FDA3-5610-812292573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3723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ED41-AD8E-8341-3D22-A3A50EBB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B224B-4770-628D-9AF9-3B8D57906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82D7F-711B-B082-3DEE-1F2F484BE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F726D-778E-3FD1-3EBD-F08136D7C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264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viernes, 23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Árboles de Decisión: La lógica de las reglas de negocio.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De cajas negras a modelos transparentes.</a:t>
            </a:r>
          </a:p>
          <a:p>
            <a:pPr marL="457200" lvl="1" indent="0">
              <a:buNone/>
            </a:pPr>
            <a:endParaRPr lang="es-ES" sz="2800" dirty="0"/>
          </a:p>
          <a:p>
            <a:pPr marL="457200" lvl="1" indent="0">
              <a:buNone/>
            </a:pPr>
            <a:r>
              <a:rPr lang="es-ES" sz="2800" dirty="0"/>
              <a:t>No es una fórmula compleja, es un mapa de carreteras para segmentar clientes.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855" y="328352"/>
            <a:ext cx="5566519" cy="794204"/>
          </a:xfrm>
        </p:spPr>
        <p:txBody>
          <a:bodyPr/>
          <a:lstStyle/>
          <a:p>
            <a:r>
              <a:rPr lang="es-ES" b="1" dirty="0"/>
              <a:t>¿Cómo "piensa" un Árbol?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093DB09-5191-EB1B-6C78-2C4D86BAA0D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0" y="1536175"/>
            <a:ext cx="594338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El Nodo Raíz: La pregunta más importante (la que más separa a los clientes buenos de los malos).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Las Ramas: Los diferentes caminos según la respuesta.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Las Hojas: La decisión final (se queda o se va).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sz="2000" dirty="0"/>
              <a:t>Analogía de Negocio: Es como el manual de formación de un comercial: "Primero mira si el cliente es antiguo; si lo es, mira si tiene deudas...".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Marcador de posición de imagen 8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09D056E9-7E09-2E5D-C1CF-1777EF7CC48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r="252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e Inconvenientes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28874AE5-B98A-0769-93F3-F002E34373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361327"/>
            <a:ext cx="6094324" cy="524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Ventaja (Interpretación): 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Puedes explicar exactamente por qué el modelo tomó una decisión.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atinLnBrk="1"/>
            <a:r>
              <a:rPr lang="es-E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Robustez a </a:t>
            </a:r>
            <a:r>
              <a:rPr lang="es-E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outliers</a:t>
            </a:r>
            <a:r>
              <a:rPr lang="es-E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</a:t>
            </a:r>
            <a:r>
              <a:rPr lang="es-E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Decisiones basadas en umbrales, no en valores extremos. </a:t>
            </a:r>
          </a:p>
          <a:p>
            <a:pPr latinLnBrk="1"/>
            <a:r>
              <a:rPr lang="es-E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→ Un cliente con ingreso $1M no destruye el modelo.</a:t>
            </a:r>
            <a:endParaRPr lang="es-E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Riesgo (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Underfitting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 </a:t>
            </a:r>
            <a:r>
              <a:rPr lang="es-E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simplicidad tiene un costo, puede que el modelo no logre capturar la complejidad de las relaciones.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s-E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Riesgo (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Overfitting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 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 dejamos que el árbol crezca demasiado, memorizará casos aislados (ruido) en lugar de patrones generales. Aquí vuelve el concepto de Parsimonia: "Poda el árbol para que sea útil".</a:t>
            </a:r>
          </a:p>
        </p:txBody>
      </p:sp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latinLnBrk="1"/>
            <a:r>
              <a:rPr lang="es-ES" dirty="0"/>
              <a:t>ENTROPÍA: EL TERMÓMETRO DEL DESORDEN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560389"/>
            <a:ext cx="6096000" cy="3143111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CONCEPTO INTUITIVO:</a:t>
            </a:r>
          </a:p>
          <a:p>
            <a:pPr latinLnBrk="1"/>
            <a:r>
              <a:rPr lang="es-ES" dirty="0"/>
              <a:t>¿Qué tan "mezclados" están tus datos?</a:t>
            </a:r>
          </a:p>
          <a:p>
            <a:pPr latinLnBrk="1"/>
            <a:r>
              <a:rPr lang="es-ES" dirty="0"/>
              <a:t>• Entropía ALTA = Caos total (50% sí, 50% no)</a:t>
            </a:r>
          </a:p>
          <a:p>
            <a:pPr latinLnBrk="1"/>
            <a:r>
              <a:rPr lang="es-ES" dirty="0"/>
              <a:t>• Entropía BAJA = Orden perfecto (100% sí, 0% no)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s-ES" dirty="0"/>
          </a:p>
          <a:p>
            <a:pPr latinLnBrk="1"/>
            <a:r>
              <a:rPr lang="es-ES" b="1" dirty="0"/>
              <a:t>EJEMPLO PRÁCTICO:</a:t>
            </a:r>
          </a:p>
          <a:p>
            <a:pPr latinLnBrk="1"/>
            <a:r>
              <a:rPr lang="es-ES" dirty="0"/>
              <a:t>Nodo con 100 clientes:</a:t>
            </a:r>
          </a:p>
          <a:p>
            <a:pPr latinLnBrk="1"/>
            <a:r>
              <a:rPr lang="es-ES" dirty="0"/>
              <a:t>• 50 compran, 50 no → Entropía = 1.0 (máximo desorden)</a:t>
            </a:r>
          </a:p>
          <a:p>
            <a:pPr latinLnBrk="1"/>
            <a:r>
              <a:rPr lang="es-ES" dirty="0"/>
              <a:t>• 90 compran, 10 no → Entropía = 0.47 (más orden)</a:t>
            </a:r>
          </a:p>
          <a:p>
            <a:pPr latinLnBrk="1"/>
            <a:r>
              <a:rPr lang="es-ES" dirty="0"/>
              <a:t>• 100 compran, 0 no → Entropía = 0.0 (orden perfecto)</a:t>
            </a:r>
          </a:p>
          <a:p>
            <a:pPr latinLnBrk="1"/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CHECKLIST DE IMPLEMENTACIÓN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☑️ </a:t>
            </a:r>
            <a:r>
              <a:rPr lang="es-ES" b="1" dirty="0"/>
              <a:t>CALIDAD DE DATOS</a:t>
            </a:r>
          </a:p>
          <a:p>
            <a:pPr latinLnBrk="1"/>
            <a:r>
              <a:rPr lang="es-ES" dirty="0"/>
              <a:t>□ Variables categóricas codificadas (</a:t>
            </a:r>
            <a:r>
              <a:rPr lang="es-ES" dirty="0" err="1"/>
              <a:t>LabelEncoder</a:t>
            </a:r>
            <a:r>
              <a:rPr lang="es-ES" dirty="0"/>
              <a:t>/</a:t>
            </a:r>
            <a:r>
              <a:rPr lang="es-ES" dirty="0" err="1"/>
              <a:t>OneHot</a:t>
            </a:r>
            <a:r>
              <a:rPr lang="es-ES" dirty="0"/>
              <a:t>)</a:t>
            </a:r>
          </a:p>
          <a:p>
            <a:pPr latinLnBrk="1"/>
            <a:r>
              <a:rPr lang="es-ES" dirty="0"/>
              <a:t>□ Valores </a:t>
            </a:r>
            <a:r>
              <a:rPr lang="es-ES" dirty="0" err="1"/>
              <a:t>missing</a:t>
            </a:r>
            <a:r>
              <a:rPr lang="es-ES" dirty="0"/>
              <a:t> manejados (árboles los manejan, pero conscientemente)</a:t>
            </a:r>
          </a:p>
          <a:p>
            <a:pPr latinLnBrk="1"/>
            <a:r>
              <a:rPr lang="es-ES" dirty="0"/>
              <a:t>□ </a:t>
            </a:r>
            <a:r>
              <a:rPr lang="es-ES" dirty="0" err="1"/>
              <a:t>Outliers</a:t>
            </a:r>
            <a:r>
              <a:rPr lang="es-ES" dirty="0"/>
              <a:t> identificados (aunque árboles son robustos)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☑️ </a:t>
            </a:r>
            <a:r>
              <a:rPr lang="es-ES" b="1" dirty="0"/>
              <a:t>ENTRENAMIENTO</a:t>
            </a:r>
          </a:p>
          <a:p>
            <a:pPr latinLnBrk="1"/>
            <a:r>
              <a:rPr lang="es-ES" dirty="0"/>
              <a:t>□ División </a:t>
            </a:r>
            <a:r>
              <a:rPr lang="es-ES" dirty="0" err="1"/>
              <a:t>train</a:t>
            </a:r>
            <a:r>
              <a:rPr lang="es-ES" dirty="0"/>
              <a:t>/test (80/20)</a:t>
            </a:r>
          </a:p>
          <a:p>
            <a:pPr latinLnBrk="1"/>
            <a:r>
              <a:rPr lang="es-ES" dirty="0"/>
              <a:t>□ Validación cruzada para </a:t>
            </a:r>
            <a:r>
              <a:rPr lang="es-ES" dirty="0" err="1"/>
              <a:t>hiperparámetros</a:t>
            </a:r>
            <a:r>
              <a:rPr lang="es-ES" dirty="0"/>
              <a:t> (ejemplo: profundidad del árbol)</a:t>
            </a:r>
          </a:p>
          <a:p>
            <a:pPr latinLnBrk="1"/>
            <a:r>
              <a:rPr lang="es-ES" dirty="0"/>
              <a:t>□ Métricas de evaluación (</a:t>
            </a:r>
            <a:r>
              <a:rPr lang="es-ES" dirty="0" err="1"/>
              <a:t>accuracy</a:t>
            </a:r>
            <a:r>
              <a:rPr lang="es-ES" dirty="0"/>
              <a:t>, </a:t>
            </a:r>
            <a:r>
              <a:rPr lang="es-ES" dirty="0" err="1"/>
              <a:t>recall</a:t>
            </a:r>
            <a:r>
              <a:rPr lang="es-ES" dirty="0"/>
              <a:t>, precisión)</a:t>
            </a:r>
          </a:p>
          <a:p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2496-EF6A-3729-1F16-DD448DAE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8585-9E0F-4C75-784D-E56D75EB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CHECKLIST DE IMPLEMENTACIÓN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0EAD7F0-2593-6D34-2745-672BB9D7AA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03A36-750E-C807-03A9-205DBC82AF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 ☑️ </a:t>
            </a:r>
            <a:r>
              <a:rPr lang="es-ES" b="1" dirty="0"/>
              <a:t>INTERPRETABILIDAD</a:t>
            </a:r>
          </a:p>
          <a:p>
            <a:pPr latinLnBrk="1"/>
            <a:r>
              <a:rPr lang="es-ES" dirty="0"/>
              <a:t>□ Reglas extraídas y documentadas</a:t>
            </a:r>
          </a:p>
          <a:p>
            <a:pPr latinLnBrk="1"/>
            <a:r>
              <a:rPr lang="es-ES" dirty="0"/>
              <a:t>□ Importancia de variables calculada</a:t>
            </a:r>
          </a:p>
          <a:p>
            <a:pPr latinLnBrk="1"/>
            <a:r>
              <a:rPr lang="es-ES" dirty="0"/>
              <a:t>□ Explicación preparada para </a:t>
            </a:r>
            <a:r>
              <a:rPr lang="es-ES" dirty="0" err="1"/>
              <a:t>stakeholders</a:t>
            </a:r>
            <a:endParaRPr lang="es-ES" dirty="0"/>
          </a:p>
          <a:p>
            <a:pPr latinLnBrk="1"/>
            <a:endParaRPr lang="es-ES" dirty="0"/>
          </a:p>
          <a:p>
            <a:pPr latinLnBrk="1"/>
            <a:r>
              <a:rPr lang="es-ES" dirty="0"/>
              <a:t>☑️ </a:t>
            </a:r>
            <a:r>
              <a:rPr lang="es-ES" b="1" dirty="0"/>
              <a:t>MONITORIZACIÓN</a:t>
            </a:r>
          </a:p>
          <a:p>
            <a:pPr latinLnBrk="1"/>
            <a:r>
              <a:rPr lang="es-ES" dirty="0"/>
              <a:t>□ Plan para actualización periódica</a:t>
            </a:r>
          </a:p>
          <a:p>
            <a:pPr latinLnBrk="1"/>
            <a:r>
              <a:rPr lang="es-ES" dirty="0"/>
              <a:t>□ Métricas de desempeño en producción</a:t>
            </a:r>
          </a:p>
          <a:p>
            <a:pPr latinLnBrk="1"/>
            <a:r>
              <a:rPr lang="es-ES" dirty="0"/>
              <a:t>□ Sistema para añadir nuevas reglas manualmente</a:t>
            </a:r>
          </a:p>
          <a:p>
            <a:pPr latinLnBrk="1"/>
            <a:r>
              <a:rPr lang="es-ES" dirty="0"/>
              <a:t>□ Auditoría de decisiones controvertidas</a:t>
            </a:r>
          </a:p>
          <a:p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8433DE0-FCB9-B78C-415D-C4B91C17C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2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545-F6CB-B9A0-E1FD-E8730411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D276-4F4B-83FF-3804-F1B5173E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CHECKLIST DE IMPLEMENTACIÓN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696E4F03-6F21-17DC-ABCE-9715663A0E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F4AD8-C54F-76F3-0C4F-6BBC8BDFF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 </a:t>
            </a:r>
          </a:p>
          <a:p>
            <a:pPr latinLnBrk="1"/>
            <a:endParaRPr lang="es-ES" dirty="0"/>
          </a:p>
          <a:p>
            <a:pPr latinLnBrk="1"/>
            <a:endParaRPr lang="es-ES" dirty="0"/>
          </a:p>
          <a:p>
            <a:pPr latinLnBrk="1"/>
            <a:r>
              <a:rPr lang="es-ES" dirty="0"/>
              <a:t>☑️ ÉTICA Y CUMPLIMIENTO</a:t>
            </a:r>
          </a:p>
          <a:p>
            <a:pPr latinLnBrk="1"/>
            <a:r>
              <a:rPr lang="es-ES" dirty="0"/>
              <a:t>□ Variables sensibles excluidas (género, etnia, etc.)</a:t>
            </a:r>
          </a:p>
          <a:p>
            <a:pPr latinLnBrk="1"/>
            <a:r>
              <a:rPr lang="es-ES" dirty="0"/>
              <a:t>□ Sesgos evaluados en diferentes grupos</a:t>
            </a:r>
          </a:p>
          <a:p>
            <a:pPr latinLnBrk="1"/>
            <a:r>
              <a:rPr lang="es-ES" dirty="0"/>
              <a:t>□ Cumplimiento con regulaciones (GDPR, etc.)</a:t>
            </a:r>
          </a:p>
          <a:p>
            <a:pPr latinLnBrk="1"/>
            <a:r>
              <a:rPr lang="es-ES" dirty="0"/>
              <a:t>□ Mecanismo de apelación humana</a:t>
            </a:r>
          </a:p>
          <a:p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C7E649F-DECF-D27A-65E4-D2B2AC9C4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36402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507</Words>
  <Application>Microsoft Office PowerPoint</Application>
  <PresentationFormat>Panorámica</PresentationFormat>
  <Paragraphs>65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Gill Sans MT</vt:lpstr>
      <vt:lpstr>Neon Horizon</vt:lpstr>
      <vt:lpstr>🚀 De mirar el pasado a anticipar el futuro</vt:lpstr>
      <vt:lpstr>Árboles de Decisión: La lógica de las reglas de negocio.</vt:lpstr>
      <vt:lpstr>¿Cómo "piensa" un Árbol?</vt:lpstr>
      <vt:lpstr>Ventajas e Inconvenientes</vt:lpstr>
      <vt:lpstr>ENTROPÍA: EL TERMÓMETRO DEL DESORDEN  </vt:lpstr>
      <vt:lpstr>CHECKLIST DE IMPLEMENTACIÓN</vt:lpstr>
      <vt:lpstr>CHECKLIST DE IMPLEMENTACIÓN</vt:lpstr>
      <vt:lpstr>CHECKLIST DE IMPLEMENTACIÓN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16</cp:revision>
  <dcterms:created xsi:type="dcterms:W3CDTF">2025-09-12T17:31:23Z</dcterms:created>
  <dcterms:modified xsi:type="dcterms:W3CDTF">2026-01-24T10:32:25Z</dcterms:modified>
</cp:coreProperties>
</file>